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3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4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6" r:id="rId18"/>
    <p:sldId id="268" r:id="rId19"/>
    <p:sldId id="272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2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尊敬的各位评委老师，下午好。我是XXX，我的毕业设计题目是《基于Spring Boot的图书管理系统设计与实现》。今天我将从研究背景、系统设计、系统实现和总结展望四个方面进行汇报。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四个核心部分展开。首先，我会介绍项目的研究背景与意义；其次，将重点阐述系统的总体设计思路和技术架构；接着，会展示系统的主要功能实现和测试情况；最后，对整个项目进行总结，并对未来的优化方向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研究背景。传统的图书馆管理模式大多依赖人工操作，存在效率低下、容易出错等问题。同时，纸质记录的方式使得图书信息的统计和查询非常不便，无论是管理人员还是读者，都面临着诸多困扰。因此，开发一个高效、便捷的信息化管理系统迫在眉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基于以上背景，本项目的研究目的主要有三点：一是实现图书管理的信息化和自动化；二是开发一个功能完善、操作便捷的系统；三是通过项目实践，掌握主流的Java Web开发技术。该项目的意义在于，不仅为图书馆提供了一套切实可行的解决方案，也极大地提升了我个人的理论水平和实践能力。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介绍系统的总体设计。在架构上，我们采用了B/S模式和前后端分离的设计思想，这使得系统的维护和扩展更加方便。同时，系统引入了基于角色的权限管理，以确保不同用户只能访问其权限范围内的功能。整个设计过程，我们都力求贴合图书馆的实际业务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这是我们系统的整体架构图。它清晰地展示了系统的三个主要层次：表现层、业务逻辑层和数据访问层。这种分层架构使得各层职责明确，降低了模块间的耦合度，有利于代码的维护和复用。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在技术选型方面，后端我们选用了目前主流且成熟的技术栈。核心语言是Java 17，开发框架采用Spring Boot 3.2.0，它能极大地简化我们的开发流程。持久层使用MyBatis，数据库则选择了开源免费的MySQL。此外，我们还使用了Lombok和Maven等工具来提高开发效率和项目管理能力。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前端方面，为了简洁高效，我们采用了原生的HTML、CSS和JavaScript进行开发。安全设计是本系统的一个重点，我们通过SHA-256加密、Session会话管理以及拦截器等多种手段，来保障用户数据的安全和系统的稳定运行。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数据库是系统的核心。我们选择了MySQL作为数据库，并根据业务需求设计了6张核心数据表。在设计过程中，我们严格遵循了数据库的三大范式，以保证数据的规范性和一致性。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这是我们系统的核心数据表结构。主要包括用户表、管理员表、学生表、图书分类表、图书表以及借阅记录表。每张表都根据其存储的信息设计了相应的字段，并通过主键和外键建立了关联。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ER图直观地展示了各数据表之间的关系。用户表与管理员表、学生表是一对一的关系；图书表与图书分类表是多对一的关系；而学生和图书之间则通过借阅记录表形成了多对多的关系。这些关系的设计保证了数据的完整性和查询的便捷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系统实现方面，我们首先进行了角色划分。系统主要分为管理员和学生两种角色。管理员拥有最高权限，负责系统的全部管理工作；而学生作为普通用户，只能进行图书查询、借阅等操作。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系统实现方面，我们首先进行了角色划分。系统主要分为管理员和学生两种角色。管理员拥有最高权限，负责系统的全部管理工作；而学生作为普通用户，只能进行图书查询、借阅等操作。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数据的一致性，我们在核心业务流程中引入了事务管理。通过Spring的@Transactional注解，我们可以确保像借阅、归还这样的操作具有原子性。也就是说，这些操作中的所有步骤要么全部成功，要么全部失败，从而避免了数据不一致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项目进行总结。通过这个项目，我成功地设计并实现了一个功能完善的图书管理系统，并且深入掌握了相关的开发技术。当然，系统也存在一些不足之处，比如前端界面可以更加美观，功能上也可以增加更多智能化的元素，这些都是未来可以继续优化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最后，再次衷心感谢我的指导老师在整个项目过程中给予我的悉心指导，也感谢各位评委老师的聆听。我的汇报到此结束，恳请各位老师批评指正。谢谢大家！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9.svg"/><Relationship Id="rId14" Type="http://schemas.openxmlformats.org/officeDocument/2006/relationships/image" Target="../media/image28.png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42.svg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image" Target="../media/image31.svg"/><Relationship Id="rId22" Type="http://schemas.openxmlformats.org/officeDocument/2006/relationships/image" Target="../media/image30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41.pn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image" Target="../media/image48.svg"/><Relationship Id="rId16" Type="http://schemas.openxmlformats.org/officeDocument/2006/relationships/image" Target="../media/image47.png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image" Target="../media/image40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tags" Target="../tags/tag23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image" Target="../media/image54.svg"/><Relationship Id="rId13" Type="http://schemas.openxmlformats.org/officeDocument/2006/relationships/image" Target="../media/image53.png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4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2.svg"/><Relationship Id="rId12" Type="http://schemas.openxmlformats.org/officeDocument/2006/relationships/image" Target="../media/image61.png"/><Relationship Id="rId11" Type="http://schemas.openxmlformats.org/officeDocument/2006/relationships/image" Target="../media/image60.svg"/><Relationship Id="rId10" Type="http://schemas.openxmlformats.org/officeDocument/2006/relationships/image" Target="../media/image59.png"/><Relationship Id="rId1" Type="http://schemas.openxmlformats.org/officeDocument/2006/relationships/image" Target="../media/image4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image" Target="../media/image4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42.svg"/><Relationship Id="rId3" Type="http://schemas.openxmlformats.org/officeDocument/2006/relationships/image" Target="../media/image67.png"/><Relationship Id="rId2" Type="http://schemas.openxmlformats.org/officeDocument/2006/relationships/tags" Target="../tags/tag32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7.xml"/><Relationship Id="rId12" Type="http://schemas.openxmlformats.org/officeDocument/2006/relationships/image" Target="../media/image71.svg"/><Relationship Id="rId11" Type="http://schemas.openxmlformats.org/officeDocument/2006/relationships/image" Target="../media/image70.png"/><Relationship Id="rId10" Type="http://schemas.openxmlformats.org/officeDocument/2006/relationships/tags" Target="../tags/tag36.xml"/><Relationship Id="rId1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svg"/><Relationship Id="rId8" Type="http://schemas.openxmlformats.org/officeDocument/2006/relationships/image" Target="../media/image77.png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image" Target="../media/image60.svg"/><Relationship Id="rId2" Type="http://schemas.openxmlformats.org/officeDocument/2006/relationships/image" Target="../media/image72.png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85.svg"/><Relationship Id="rId16" Type="http://schemas.openxmlformats.org/officeDocument/2006/relationships/image" Target="../media/image84.png"/><Relationship Id="rId15" Type="http://schemas.openxmlformats.org/officeDocument/2006/relationships/image" Target="../media/image83.svg"/><Relationship Id="rId14" Type="http://schemas.openxmlformats.org/officeDocument/2006/relationships/image" Target="../media/image82.png"/><Relationship Id="rId13" Type="http://schemas.openxmlformats.org/officeDocument/2006/relationships/image" Target="../media/image5.svg"/><Relationship Id="rId12" Type="http://schemas.openxmlformats.org/officeDocument/2006/relationships/image" Target="../media/image81.png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../media/image86.svg"/><Relationship Id="rId3" Type="http://schemas.openxmlformats.org/officeDocument/2006/relationships/image" Target="../media/image72.png"/><Relationship Id="rId2" Type="http://schemas.openxmlformats.org/officeDocument/2006/relationships/tags" Target="../tags/tag38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90.png"/><Relationship Id="rId12" Type="http://schemas.openxmlformats.org/officeDocument/2006/relationships/tags" Target="../tags/tag43.xml"/><Relationship Id="rId11" Type="http://schemas.openxmlformats.org/officeDocument/2006/relationships/image" Target="../media/image89.png"/><Relationship Id="rId10" Type="http://schemas.openxmlformats.org/officeDocument/2006/relationships/tags" Target="../tags/tag42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image" Target="../media/image39.svg"/><Relationship Id="rId29" Type="http://schemas.openxmlformats.org/officeDocument/2006/relationships/notesSlide" Target="../notesSlides/notesSlide14.x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97.svg"/><Relationship Id="rId26" Type="http://schemas.openxmlformats.org/officeDocument/2006/relationships/image" Target="../media/image96.png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image" Target="../media/image31.svg"/><Relationship Id="rId20" Type="http://schemas.openxmlformats.org/officeDocument/2006/relationships/image" Target="../media/image95.png"/><Relationship Id="rId2" Type="http://schemas.openxmlformats.org/officeDocument/2006/relationships/image" Target="../media/image91.png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image" Target="../media/image94.svg"/><Relationship Id="rId14" Type="http://schemas.openxmlformats.org/officeDocument/2006/relationships/image" Target="../media/image93.png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image" Target="../media/image14.svg"/><Relationship Id="rId10" Type="http://schemas.openxmlformats.org/officeDocument/2006/relationships/image" Target="../media/image92.pn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svg"/><Relationship Id="rId8" Type="http://schemas.openxmlformats.org/officeDocument/2006/relationships/image" Target="../media/image103.png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58.svg"/><Relationship Id="rId4" Type="http://schemas.openxmlformats.org/officeDocument/2006/relationships/image" Target="../media/image100.png"/><Relationship Id="rId3" Type="http://schemas.openxmlformats.org/officeDocument/2006/relationships/image" Target="../media/image99.svg"/><Relationship Id="rId2" Type="http://schemas.openxmlformats.org/officeDocument/2006/relationships/image" Target="../media/image98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svg"/><Relationship Id="rId8" Type="http://schemas.openxmlformats.org/officeDocument/2006/relationships/image" Target="../media/image107.png"/><Relationship Id="rId7" Type="http://schemas.openxmlformats.org/officeDocument/2006/relationships/image" Target="../media/image31.svg"/><Relationship Id="rId6" Type="http://schemas.openxmlformats.org/officeDocument/2006/relationships/image" Target="../media/image95.png"/><Relationship Id="rId5" Type="http://schemas.openxmlformats.org/officeDocument/2006/relationships/image" Target="../media/image14.svg"/><Relationship Id="rId4" Type="http://schemas.openxmlformats.org/officeDocument/2006/relationships/image" Target="../media/image92.png"/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7" Type="http://schemas.openxmlformats.org/officeDocument/2006/relationships/notesSlide" Target="../notesSlides/notesSlide1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13.svg"/><Relationship Id="rId14" Type="http://schemas.openxmlformats.org/officeDocument/2006/relationships/image" Target="../media/image112.png"/><Relationship Id="rId13" Type="http://schemas.openxmlformats.org/officeDocument/2006/relationships/image" Target="../media/image56.svg"/><Relationship Id="rId12" Type="http://schemas.openxmlformats.org/officeDocument/2006/relationships/image" Target="../media/image111.png"/><Relationship Id="rId11" Type="http://schemas.openxmlformats.org/officeDocument/2006/relationships/image" Target="../media/image110.svg"/><Relationship Id="rId10" Type="http://schemas.openxmlformats.org/officeDocument/2006/relationships/image" Target="../media/image109.png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4.png"/><Relationship Id="rId7" Type="http://schemas.openxmlformats.org/officeDocument/2006/relationships/image" Target="../media/image60.svg"/><Relationship Id="rId6" Type="http://schemas.openxmlformats.org/officeDocument/2006/relationships/image" Target="../media/image72.png"/><Relationship Id="rId5" Type="http://schemas.openxmlformats.org/officeDocument/2006/relationships/image" Target="../media/image39.svg"/><Relationship Id="rId4" Type="http://schemas.openxmlformats.org/officeDocument/2006/relationships/image" Target="../media/image91.png"/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Java 的图书管理系统设计与实现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4826016" y="1962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556000" y="222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毕业设计答辩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000" y="3175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984500" y="317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学生姓名：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84500" y="381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　号：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XXXXXX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0000" y="4445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984500" y="444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专业班级：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3175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317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3810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381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　校：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445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444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答辩时间：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XXXX年XX月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7188">
            <a:off x="4826016" y="532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 / 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0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4000" y="1803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814">
            <a:off x="762008" y="2406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62000" y="2794000"/>
            <a:ext cx="50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1524000" y="2819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系统总体设计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814">
            <a:off x="762008" y="342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762000" y="3810000"/>
            <a:ext cx="50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1524000" y="3835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系统实现与测试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762008" y="443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762000" y="4826000"/>
            <a:ext cx="50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1524000" y="4851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87722">
            <a:off x="4318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4000" y="2413000"/>
            <a:ext cx="1524000" cy="152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4191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技术汇报核心纲要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600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35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60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传统图书管理方式以人工登记为主，效率低、易出错。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098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1242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图书信息、借阅记录统计不便，难以进行数据分析。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962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3987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读者无法便捷地查询图书信息和借阅状态，体验不佳。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26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4851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难以满足管理人员对图书进行精细化管理的需求。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9051">
            <a:off x="4102100" y="358776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600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2352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00FFFF">
              <a:alpha val="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8000" y="25019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67600" y="25273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人工操作效率低下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33782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00FFFF">
              <a:alpha val="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0" y="36449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67600" y="36703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数据统计分析困难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45212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00FFFF">
              <a:alpha val="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58000" y="47879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67600" y="48133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读者借阅体验不佳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600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研究目的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35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60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实现图书管理的信息化、自动化，提高管理效率。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098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1242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开发一个功能完善、操作便捷的图书管理系统。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962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3987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 Spring Boot、MyBatis 等主流 Java Web 开发技术。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5308">
            <a:off x="4610100" y="3079764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1600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235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6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理论意义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85000" y="2641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 B/S 架构模式和前后端分离开发思想。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505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53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实践意义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3911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提升个人软件开发与项目管理能力，提供高效解决方案。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092">
            <a:off x="762004" y="494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5334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270000" y="5359400"/>
            <a:ext cx="990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通过项目实践，为图书馆提供高效管理方案，同时全面提升个人理论与实践能力。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4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系统总体设计思路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70000" y="215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架构模式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270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B/S 架构，用户通过浏览器即可访问系统，无需安装客户端。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30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270000" y="330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设计思想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270000" y="368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前后端分离，前端负责交互展示，后端处理业务与数据。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1270000" y="4445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权限管理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1270000" y="4826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系统通过设置管理员、学生两个角色，控制不同的页面功能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 rot="5388540">
            <a:off x="4191000" y="3422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2159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7112000" y="215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7112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紧密贴合图书馆实际业务，确保系统功能的实用性与高效性。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6604000" y="35560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00FFFF">
              <a:alpha val="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8000" y="3810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7302500" y="38100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7302500" y="4191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打造高效、安全、易用的现代化图书馆管理平台。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4318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086100" y="168275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系统整体架构——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MVC</a:t>
            </a:r>
            <a:endParaRPr lang="en-US" altLang="zh-CN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45" y="323405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147445" y="32340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 - Model</a:t>
            </a:r>
            <a:r>
              <a:rPr lang="zh-CN" alt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（模型层）</a:t>
            </a:r>
            <a:endParaRPr lang="zh-CN" altLang="en-US" sz="20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147445" y="3615055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责处理所有与数据和核心业务规则相关的事情（如从数据库读写、计算等）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9445" y="3234055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957445" y="32340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 - View</a:t>
            </a:r>
            <a:r>
              <a:rPr lang="zh-CN" alt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（视图层）</a:t>
            </a:r>
            <a:endParaRPr lang="zh-CN" altLang="en-US" sz="20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957445" y="3615055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责所有用户能看到的界面（如网页、</a:t>
            </a:r>
            <a:r>
              <a:rPr lang="en-US" altLang="zh-CN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页面）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9445" y="3234055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8767445" y="32340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- Controller</a:t>
            </a:r>
            <a:r>
              <a:rPr lang="zh-CN" alt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（控制器层）</a:t>
            </a:r>
            <a:endParaRPr lang="zh-CN" altLang="en-US" sz="20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767445" y="3615055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协调和调度，处理视图层和模型层之间的交互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后端技术栈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159000"/>
          <a:ext cx="9906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1778000"/>
                <a:gridCol w="558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Java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系统开发的核心编程语言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Spring Boot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3.2.0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快速开发框架，简化配置，提高开发效率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MyBatis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3.0.3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持久层框架，简化数据库操作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MySQL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关系型数据库，用于存储系统数据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Lombok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简化 Java 代码，减少冗余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Maven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项目构建工具，用于项目依赖管理和打包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4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286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HTML5 &amp; CSS3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667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构建页面结构和样式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30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302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JavaScript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683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实现页面的动态交互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4318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API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4699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与后端进行异步数据交互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7722">
            <a:off x="43180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安全设计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286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密码加密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667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SHA-256 算法加密存储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302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3302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会话管理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3683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Session 管理用户登录状态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31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4318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4699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通过拦截器实现 URL 级别的权限控制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1459">
            <a:off x="762011" y="12128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数据库设计概述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413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数据库选择：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 MySQL 8.x 作为系统的数据库。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175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根据系统的业务需求，共设计了 6 张核心数据表。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93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3937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遵循数据库设计的三大范式，确保数据的完整性和一致性。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2000" y="5080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通过严谨的数据库设计，为系统的稳定运行和未来扩展奠定了坚实的数据基础。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473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数据库表结构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2032000"/>
          <a:ext cx="10668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048000"/>
                <a:gridCol w="558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user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用户账号与角色信息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username, password, role_id, create_time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admin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管理员信息表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user_id, name, email, phone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student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学生信息表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user_id, student_id, name, major, grade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book_category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图书分类表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name, description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book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图书信息表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title, author, publisher, isbn, category_id, stock, cover_image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borrow_record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借阅记录表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book_id, student_id, borrow_date, due_date, return_date, status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99160" y="1928495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数据库关系说明</a:t>
            </a:r>
            <a:endParaRPr lang="en-US" sz="32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60" y="297942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343660" y="2944495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一对一关系：</a:t>
            </a: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`user` 表与 `admin` 表、`student` 表为一对一关系。</a:t>
            </a:r>
            <a:endParaRPr 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160" y="343789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343660" y="3388995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多对一关系：</a:t>
            </a: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`book` 表与 `book_category` 表为多对一关系。</a:t>
            </a:r>
            <a:endParaRPr 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9160" y="388239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1343660" y="3833495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多对多关系：</a:t>
            </a: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`student` 表与 `book` 表通过 `borrow_record` 表形成多对多关系。</a:t>
            </a:r>
            <a:endParaRPr 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系统实现与测试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系统角色划分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 (Admin)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844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拥有系统最高权限，负责图书、用户及借阅等全部管理功能。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318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 (Student)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4749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普通用户，主要功能包括图书查询、借阅及查看个人记录。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权限矩阵概览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22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209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图书信息管理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2235200"/>
            <a:ext cx="228600" cy="228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14000" y="22352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11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098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用户管理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3124200"/>
            <a:ext cx="228600" cy="228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14000" y="3124200"/>
            <a:ext cx="228600" cy="22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000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3987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借阅管理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4013200"/>
            <a:ext cx="228600" cy="228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4000" y="4013200"/>
            <a:ext cx="228600" cy="228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48895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21500" y="4876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个人记录查询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4902200"/>
            <a:ext cx="228600" cy="228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4000" y="4902200"/>
            <a:ext cx="228600" cy="228600"/>
          </a:xfrm>
          <a:prstGeom prst="rect">
            <a:avLst/>
          </a:prstGeom>
        </p:spPr>
      </p:pic>
      <p:cxnSp>
        <p:nvCxnSpPr>
          <p:cNvPr id="32" name="Connector 32"/>
          <p:cNvCxnSpPr/>
          <p:nvPr/>
        </p:nvCxnSpPr>
        <p:spPr>
          <a:xfrm rot="-8814">
            <a:off x="6477008" y="5454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" name="Picture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651500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794500" y="56388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权限拥有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36000" y="5651500"/>
            <a:ext cx="203200" cy="203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953500" y="56388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权限受限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5080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系统实现与测试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" y="148018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451610" y="1422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 (Admin)</a:t>
            </a:r>
            <a:endParaRPr lang="en-US" sz="2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4585" y="1480185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982585" y="1422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 (Student)</a:t>
            </a:r>
            <a:endParaRPr lang="en-US" sz="2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59385" y="2322830"/>
            <a:ext cx="5936615" cy="352488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179820" y="2322830"/>
            <a:ext cx="5936615" cy="3524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系统实现与测试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1459">
            <a:off x="762011" y="12128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37668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功能模块分工</a:t>
            </a:r>
            <a:endParaRPr lang="zh-CN" altLang="en-US" sz="20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270000" y="228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</a:t>
            </a:r>
            <a:r>
              <a:rPr lang="en-US" altLang="zh-CN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角色管理（张三）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270000" y="2667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用户登录、身份认证、密码加密、权限分配管理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270000" y="330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图书管理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（王五）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270000" y="3683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对图书信息进行全面的 CRUD 操作。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30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112000" y="330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分类管理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（王琪）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7112000" y="3683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为所有图书灵活分配不同的标签，以便于分类统计、展示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2000" y="4446905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1270000" y="44469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学生管理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（王六）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1270000" y="4827905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可以添加学生信息和学生用户密码，添加后可登录系统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18"/>
            </p:custDataLst>
          </p:nvPr>
        </p:nvCxnSpPr>
        <p:spPr>
          <a:xfrm>
            <a:off x="6084695" y="2125380"/>
            <a:ext cx="11305" cy="384363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2"/>
            </p:custDataLst>
          </p:nvPr>
        </p:nvSpPr>
        <p:spPr>
          <a:xfrm>
            <a:off x="7112000" y="228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</a:t>
            </a:r>
            <a:r>
              <a:rPr lang="en-US" altLang="zh-CN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统计分析（李四）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3"/>
            </p:custDataLst>
          </p:nvPr>
        </p:nvSpPr>
        <p:spPr>
          <a:xfrm>
            <a:off x="7112000" y="2667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汇总展示关键数据、热门图书排名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35" name="AutoShape 9"/>
          <p:cNvSpPr/>
          <p:nvPr>
            <p:custDataLst>
              <p:tags r:id="rId24"/>
            </p:custDataLst>
          </p:nvPr>
        </p:nvSpPr>
        <p:spPr>
          <a:xfrm>
            <a:off x="7112000" y="444690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借阅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管理（李武）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0"/>
          <p:cNvSpPr/>
          <p:nvPr>
            <p:custDataLst>
              <p:tags r:id="rId25"/>
            </p:custDataLst>
          </p:nvPr>
        </p:nvSpPr>
        <p:spPr>
          <a:xfrm>
            <a:off x="7112000" y="4904105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允许学生账户借阅图书，允许所有账户查看借阅记录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37" name="Picture 11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04000" y="444690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4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系统实现与测试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事务与一致性保证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1717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事务管理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6035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在核心业务流程中，使用 Spring 的 `@Transactional` 注解来管理事务，确保业务逻辑的健壮性。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4417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原子性保证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8735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确保一组数据库操作要么全部成功，要么全部失败，从根本上杜绝数据不一致的风险。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69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47117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场景举例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52070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25600" y="5181600"/>
            <a:ext cx="939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借阅：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“扣减库存”和“创建借阅记录”必须同时成功。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5651500"/>
            <a:ext cx="203200" cy="203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25600" y="5626100"/>
            <a:ext cx="939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归还：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“增加库存”和“更新借阅记录状态”必须同时成功。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完成情况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082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082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成功设计并实现基于Spring Boot的图书管理系统。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0988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098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实现图书、用户、借阅管理等核心功能模块。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114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114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系统运行稳定，功能完整，达到预期设计目标。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6777">
            <a:off x="4445000" y="3168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不足之处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0828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082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前端界面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页面样式相对简单，可进行深度美化与交互优化。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098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098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可引入推荐、统计分析等更多智能化功能。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1148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114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大数据量下可对数据库查询及缓存策略优化。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2000" y="5384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5384800"/>
            <a:ext cx="990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持续迭代优化，探索更多可能性，打造更智能、高效的管理平台。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016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203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0" y="2794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556000" y="28067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本系统完成了毕业设计的预期目标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556000" y="34417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提升了对 Java Web 项目开发的理解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000" y="406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56000" y="40767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感谢指导老师的帮助与指导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9530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谢谢老师，请批评指正！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2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3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4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5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6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7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8.xml><?xml version="1.0" encoding="utf-8"?>
<p:tagLst xmlns:p="http://schemas.openxmlformats.org/presentationml/2006/main">
  <p:tag name="KSO_WM_DIAGRAM_VIRTUALLY_FRAME" val="{&quot;height&quot;:272,&quot;left&quot;:60,&quot;top&quot;:140,&quot;width&quot;:410}"/>
</p:tagLst>
</file>

<file path=ppt/tags/tag9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0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1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2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3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4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5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6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7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8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19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20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21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22.xml><?xml version="1.0" encoding="utf-8"?>
<p:tagLst xmlns:p="http://schemas.openxmlformats.org/presentationml/2006/main">
  <p:tag name="KSO_WM_DIAGRAM_VIRTUALLY_FRAME" val="{&quot;height&quot;:300.00166666202705,&quot;left&quot;:100,&quot;top&quot;:120.00003281071875,&quot;width&quot;:840}"/>
</p:tagLst>
</file>

<file path=ppt/tags/tag23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4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5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6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7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8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29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30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31.xml><?xml version="1.0" encoding="utf-8"?>
<p:tagLst xmlns:p="http://schemas.openxmlformats.org/presentationml/2006/main">
  <p:tag name="KSO_WM_DIAGRAM_VIRTUALLY_FRAME" val="{&quot;height&quot;:185.35,&quot;left&quot;:50.35,&quot;top&quot;:254.65,&quot;width&quot;:889.65}"/>
</p:tagLst>
</file>

<file path=ppt/tags/tag32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3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4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5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6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7.xml><?xml version="1.0" encoding="utf-8"?>
<p:tagLst xmlns:p="http://schemas.openxmlformats.org/presentationml/2006/main">
  <p:tag name="KSO_WM_DIAGRAM_VIRTUALLY_FRAME" val="{&quot;height&quot;:260.15,&quot;left&quot;:60,&quot;top&quot;:231.85,&quot;width&quot;:845.8}"/>
</p:tagLst>
</file>

<file path=ppt/tags/tag38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39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40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41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42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43.xml><?xml version="1.0" encoding="utf-8"?>
<p:tagLst xmlns:p="http://schemas.openxmlformats.org/presentationml/2006/main">
  <p:tag name="KSO_WM_DIAGRAM_VIRTUALLY_FRAME" val="{&quot;height&quot;:348.45,&quot;left&quot;:12.55,&quot;top&quot;:112,&quot;width&quot;:941.5}"/>
</p:tagLst>
</file>

<file path=ppt/tags/tag44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45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46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47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48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49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0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1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2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3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4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5.xml><?xml version="1.0" encoding="utf-8"?>
<p:tagLst xmlns:p="http://schemas.openxmlformats.org/presentationml/2006/main">
  <p:tag name="KSO_WM_DIAGRAM_VIRTUALLY_FRAME" val="{&quot;height&quot;:342.0000266311102,&quot;left&quot;:100,&quot;top&quot;:129.99997336888984,&quot;width&quot;:820}"/>
</p:tagLst>
</file>

<file path=ppt/tags/tag56.xml><?xml version="1.0" encoding="utf-8"?>
<p:tagLst xmlns:p="http://schemas.openxmlformats.org/presentationml/2006/main">
  <p:tag name="KSO_WM_DIAGRAM_VIRTUALLY_FRAME" val="{&quot;height&quot;:260.0019230698009,&quot;left&quot;:100,&quot;top&quot;:169.99998334698927,&quot;width&quot;:810}"/>
</p:tagLst>
</file>

<file path=ppt/tags/tag57.xml><?xml version="1.0" encoding="utf-8"?>
<p:tagLst xmlns:p="http://schemas.openxmlformats.org/presentationml/2006/main">
  <p:tag name="KSO_WM_DIAGRAM_VIRTUALLY_FRAME" val="{&quot;height&quot;:260.0019230698009,&quot;left&quot;:100,&quot;top&quot;:169.99998334698927,&quot;width&quot;:81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WPS 演示</Application>
  <PresentationFormat/>
  <Paragraphs>370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BigFine</cp:lastModifiedBy>
  <cp:revision>4</cp:revision>
  <dcterms:created xsi:type="dcterms:W3CDTF">2026-01-09T16:04:00Z</dcterms:created>
  <dcterms:modified xsi:type="dcterms:W3CDTF">2026-01-10T01:54:05Z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8205FD7A03B7400FAE7FDE42552029E0_12</vt:lpwstr>
  </property>
  <property fmtid="{D5CDD505-2E9C-101B-9397-08002B2CF9AE}" pid="3" name="KSOProductBuildVer">
    <vt:lpwstr>2052-12.1.0.24034</vt:lpwstr>
  </property>
</Properties>
</file>